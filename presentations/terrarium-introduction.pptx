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55448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Terrarium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simulator for the decisions that only come round once a decade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429768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Invented worlds, honest machinery. Live a decade of economic history that never happened — then find out whether your decisions helped or hurt.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and methodology · 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25880" y="15727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needs to exist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532120" y="15727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487168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871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250545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hides the risk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532120" y="250545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419856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4198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25880" y="343814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using it looks like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532120" y="343814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352544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3525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437083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decade is built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532120" y="43708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5285232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2852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25880" y="53035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Specified, not learned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532120" y="5303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0" y="1554480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1554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86600" y="15727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liquidity squeeze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292840" y="15727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0" y="2487168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24871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086600" y="250545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Scoring: decision alpha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1292840" y="250545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0" y="3419856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0" y="34198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086600" y="343814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world is a fan, not a line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1292840" y="343814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00800" y="4352544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43525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086600" y="437083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before published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1292840" y="43708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methodology at a glance; references.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156716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things to take away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 rot="2700000">
            <a:off x="804672" y="1691640"/>
            <a:ext cx="128016" cy="12801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54533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is impossible in this job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039112"/>
            <a:ext cx="48920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career contains three or four market cycles. Surgeons and pilots train on simulators; people allocating hundreds of billions learn on the job, once, slowly.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41732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 rot="2700000">
            <a:off x="6519672" y="1691640"/>
            <a:ext cx="128016" cy="128016"/>
          </a:xfrm>
          <a:prstGeom prst="rect">
            <a:avLst/>
          </a:prstGeom>
          <a:solidFill>
            <a:srgbClr val="B3362E"/>
          </a:solidFill>
          <a:ln/>
        </p:spPr>
      </p:sp>
      <p:sp>
        <p:nvSpPr>
          <p:cNvPr id="9" name="Text 7"/>
          <p:cNvSpPr/>
          <p:nvPr/>
        </p:nvSpPr>
        <p:spPr>
          <a:xfrm>
            <a:off x="6812280" y="154533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3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understates the risk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37960" y="2039112"/>
            <a:ext cx="48920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assets are appraised, not traded, so their reported values are smoothed. The risk being carried is genuinely hard to see — even for professionals, even afterwards.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 rot="2700000">
            <a:off x="804672" y="3931920"/>
            <a:ext cx="128016" cy="128016"/>
          </a:xfrm>
          <a:prstGeom prst="rect">
            <a:avLst/>
          </a:prstGeom>
          <a:solidFill>
            <a:srgbClr val="1E7A3C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78561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7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Terrarium gives you the reps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4279392"/>
            <a:ext cx="48920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invents complete, coherent decades you can live through month by month, making real decisions without knowing what comes next.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63640" y="365760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 rot="2700000">
            <a:off x="6519672" y="3931920"/>
            <a:ext cx="128016" cy="128016"/>
          </a:xfrm>
          <a:prstGeom prst="rect">
            <a:avLst/>
          </a:prstGeom>
          <a:solidFill>
            <a:srgbClr val="B07D1E"/>
          </a:solidFill>
          <a:ln/>
        </p:spPr>
      </p:sp>
      <p:sp>
        <p:nvSpPr>
          <p:cNvPr id="17" name="Text 15"/>
          <p:cNvSpPr/>
          <p:nvPr/>
        </p:nvSpPr>
        <p:spPr>
          <a:xfrm>
            <a:off x="6812280" y="378561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7D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Plausible, never predictive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37960" y="4279392"/>
            <a:ext cx="48920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invented worlds, labelled as such. The claim is not that they will happen — it is that they are defensible, tested, and reproducible by anyone.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035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 </a:t>
            </a:r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point is not whether you made money, but whether your decisions helped or hurt.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56716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career gives you four attempts at a hard skill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feedback, few repetitions, and the same handful of episodes everyone else learned from</a:t>
            </a:r>
            <a:endParaRPr lang="en-US" sz="1400" dirty="0"/>
          </a:p>
        </p:txBody>
      </p:sp>
      <p:pic>
        <p:nvPicPr>
          <p:cNvPr id="4" name="Image 0" descr="/home/claude/deck/fig_pract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" y="1463040"/>
            <a:ext cx="11201400" cy="366591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5266113"/>
            <a:ext cx="10881360" cy="1271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investment professional lives through three or four genuine market cycles in forty years — and each one arrives once, in real time, with real consequences.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simulator does not make the decisions easier. It makes them repeatable, which is the only way anyone has ever got better at anything.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156716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assets are calmer on paper than in life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Appraisers anchor on last quarter's value, so reported returns are a smoothed version of real ones</a:t>
            </a:r>
            <a:endParaRPr lang="en-US" sz="1400" dirty="0"/>
          </a:p>
        </p:txBody>
      </p:sp>
      <p:pic>
        <p:nvPicPr>
          <p:cNvPr id="4" name="Image 0" descr="/home/claude/deck/fig_smooth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406640" cy="262599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183880" y="1417320"/>
            <a:ext cx="3520440" cy="969264"/>
          </a:xfrm>
          <a:prstGeom prst="roundRect">
            <a:avLst>
              <a:gd name="adj" fmla="val 5660"/>
            </a:avLst>
          </a:prstGeom>
          <a:solidFill>
            <a:srgbClr val="EAF0FA"/>
          </a:solidFill>
          <a:ln/>
        </p:spPr>
      </p:sp>
      <p:sp>
        <p:nvSpPr>
          <p:cNvPr id="6" name="Text 3"/>
          <p:cNvSpPr/>
          <p:nvPr/>
        </p:nvSpPr>
        <p:spPr>
          <a:xfrm>
            <a:off x="8339328" y="1490472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765792" y="1490472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carried for every private asset: true and reported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8183880" y="2532888"/>
            <a:ext cx="3520440" cy="969264"/>
          </a:xfrm>
          <a:prstGeom prst="roundRect">
            <a:avLst>
              <a:gd name="adj" fmla="val 5660"/>
            </a:avLst>
          </a:prstGeom>
          <a:solidFill>
            <a:srgbClr val="EAF0FA"/>
          </a:solidFill>
          <a:ln/>
        </p:spPr>
      </p:sp>
      <p:sp>
        <p:nvSpPr>
          <p:cNvPr id="9" name="Text 6"/>
          <p:cNvSpPr/>
          <p:nvPr/>
        </p:nvSpPr>
        <p:spPr>
          <a:xfrm>
            <a:off x="8339328" y="26060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click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9765792" y="260604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switch between them, mid-decade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183880" y="3648456"/>
            <a:ext cx="3520440" cy="969264"/>
          </a:xfrm>
          <a:prstGeom prst="roundRect">
            <a:avLst>
              <a:gd name="adj" fmla="val 5660"/>
            </a:avLst>
          </a:prstGeom>
          <a:solidFill>
            <a:srgbClr val="EAF0FA"/>
          </a:solidFill>
          <a:ln/>
        </p:spPr>
      </p:sp>
      <p:sp>
        <p:nvSpPr>
          <p:cNvPr id="12" name="Text 9"/>
          <p:cNvSpPr/>
          <p:nvPr/>
        </p:nvSpPr>
        <p:spPr>
          <a:xfrm>
            <a:off x="8339328" y="3721608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yrs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9765792" y="3721608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published research behind the correction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85800" y="4892040"/>
            <a:ext cx="10881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Terrarium corrects reported returns before using them, then deliberately re-applies the smoothing so you can watch the gap open in real time.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trained on smoothed marks inherits their understatement of risk — which would defeat the whole purpose.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502920" y="5989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simulation. Correction methods after Geltner (1991) and Getmansky, Lo &amp; Makarov (2004).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156716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using it actually looks like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Compile, live, decide, review — the loop is the product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81912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8191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141732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Describe a world in a sentence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801368"/>
            <a:ext cx="10104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"Inflation stays stubborn for years." "Credit dries up in 2027." The system turns that into a complete, internally consistent decade — or you pick one from the library.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788920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8892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08760" y="262432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it month by month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08760" y="3008376"/>
            <a:ext cx="10104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decade reveals itself in sequence, like a live tape, with news arriving as things happen. There is no fast-forward to the answer, which is what makes a decision feel like one.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995928"/>
            <a:ext cx="603504" cy="603504"/>
          </a:xfrm>
          <a:prstGeom prst="ellipse">
            <a:avLst/>
          </a:prstGeom>
          <a:solidFill>
            <a:srgbClr val="1E7A3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9959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08760" y="3831336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7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Decide, without knowing what comes next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08760" y="4215384"/>
            <a:ext cx="10104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year the committee meets and you act — rebalance, commit, de-risk, hold. Each choice is recorded with the information you actually had at the time.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5202936"/>
            <a:ext cx="603504" cy="603504"/>
          </a:xfrm>
          <a:prstGeom prst="ellipse">
            <a:avLst/>
          </a:prstGeom>
          <a:solidFill>
            <a:srgbClr val="1E7A3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20293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08760" y="503834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7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out what your decisions were worth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08760" y="5422392"/>
            <a:ext cx="10104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end, every decision is annotated with what it cost or earned, against a version of your portfolio that did nothing at all.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56716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decade is built in four layers, slowest first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constrains the one below it — which is what makes ten years hang together instead of drifting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1591056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decades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691640" y="1481328"/>
            <a:ext cx="3794760" cy="896112"/>
          </a:xfrm>
          <a:prstGeom prst="roundRect">
            <a:avLst>
              <a:gd name="adj" fmla="val 7143"/>
            </a:avLst>
          </a:prstGeom>
          <a:solidFill>
            <a:srgbClr val="EAF0FA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527048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64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395728" y="1527048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Climate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897880" y="1499616"/>
            <a:ext cx="5806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slow backdrop: the inflation environment, where real interest rates sit, trend growth.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897880" y="1984248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from a century of history across many countries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84448" y="2395728"/>
            <a:ext cx="0" cy="201168"/>
          </a:xfrm>
          <a:prstGeom prst="line">
            <a:avLst/>
          </a:prstGeom>
          <a:noFill/>
          <a:ln w="22225">
            <a:solidFill>
              <a:srgbClr val="5A6478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502920" y="2724912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691640" y="2615184"/>
            <a:ext cx="3794760" cy="896112"/>
          </a:xfrm>
          <a:prstGeom prst="roundRect">
            <a:avLst>
              <a:gd name="adj" fmla="val 7143"/>
            </a:avLst>
          </a:prstGeom>
          <a:solidFill>
            <a:srgbClr val="EAF0FA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47088" y="2660904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64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395728" y="2660904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Seasons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897880" y="2633472"/>
            <a:ext cx="5806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regime spine — expansion, slowdown, recession, recovery, and the stressed states in between.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897880" y="3118104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Specified by us, documented, and varied deliberately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584448" y="3529584"/>
            <a:ext cx="0" cy="201168"/>
          </a:xfrm>
          <a:prstGeom prst="line">
            <a:avLst/>
          </a:prstGeom>
          <a:noFill/>
          <a:ln w="22225">
            <a:solidFill>
              <a:srgbClr val="5A6478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502920" y="3858768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691640" y="3749040"/>
            <a:ext cx="3794760" cy="896112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47088" y="3794760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395728" y="3794760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Weather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5897880" y="3767328"/>
            <a:ext cx="5806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market moving together — equities, rates, credit, inflation, commodities, currencies.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897880" y="4251960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layer genuinely learned from data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584448" y="4663440"/>
            <a:ext cx="0" cy="201168"/>
          </a:xfrm>
          <a:prstGeom prst="line">
            <a:avLst/>
          </a:prstGeom>
          <a:noFill/>
          <a:ln w="22225">
            <a:solidFill>
              <a:srgbClr val="5A6478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502920" y="4992624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691640" y="4882896"/>
            <a:ext cx="3794760" cy="896112"/>
          </a:xfrm>
          <a:prstGeom prst="roundRect">
            <a:avLst>
              <a:gd name="adj" fmla="val 7143"/>
            </a:avLst>
          </a:prstGeom>
          <a:solidFill>
            <a:srgbClr val="EAF0FA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47088" y="4928616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64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2395728" y="4928616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Events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5897880" y="4901184"/>
            <a:ext cx="5806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things that happen: a bank fails, a fund gates, a spread breaches. Trouble clusters.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897880" y="5385816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 rate depends on the season above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610819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the monthly paths are reconciled so they add up exactly to what the slower layers said the decade would be.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56716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structure is written down; only the hard part is learned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EAF4E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45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7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Written down, and open to argument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layers, the regime definitions, and the rules for how one state becomes another.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constraints that keep a world economically sensible — prices cannot go negative, rates cannot fall below a floor.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cash-flow mechanics: how capital calls, distributions and asset values behave over a fund's life.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it versioned, so any result records exactly which specification produced it.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355080" y="146304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EAF0FA"/>
          </a:solidFill>
          <a:ln/>
        </p:spPr>
      </p:sp>
      <p:sp>
        <p:nvSpPr>
          <p:cNvPr id="7" name="Text 5"/>
          <p:cNvSpPr/>
          <p:nvPr/>
        </p:nvSpPr>
        <p:spPr>
          <a:xfrm>
            <a:off x="6629400" y="1645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Learned from data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629400" y="219456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thing only: how markets move together month to month.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 is the one behind modern image and video generation, applied to time series.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assumes nothing about the shape of the distribution — no bell curve, no named family. Whatever shape the history has, including its extremes, is what it learns.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told what kind of decade to produce rather than asked for a random one.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58978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usual approach learns the whole world and hides it where nobody can look — fine for video games, useless in front of a risk committee. This one can be read, argued with, and changed.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56716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Being overweight is arithmetic. Being forced to sell is the problem.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holdings fall at once, private marks lag, spending is set off the lagging numbers, calls arrive anyway</a:t>
            </a:r>
            <a:endParaRPr lang="en-US" sz="1400" dirty="0"/>
          </a:p>
        </p:txBody>
      </p:sp>
      <p:pic>
        <p:nvPicPr>
          <p:cNvPr id="4" name="Image 0" descr="/home/claude/deck/fig_liquid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315200" cy="39502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55280" y="1554480"/>
            <a:ext cx="3776472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books say your private weight is climbing through the policy limit. On a true basis it is falling — the reported number is an artefact of stale marks.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Meanwhile spending stays high because it is calculated off those same reported values, capital calls arrive on schedule, and distributions dry up.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Eventually something has to be sold, and the things that can be sold are rarely the things you wanted to sell.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02920" y="5989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Illustrative. Cash-flow mechanics follow the Takahashi–Alexander framework, extended so call and distribution rates respond to market conditions.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156716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are scored against the version of you who did nothing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mostly decide whether you made money. This measures whether your decisions helped.</a:t>
            </a:r>
            <a:endParaRPr lang="en-US" sz="1400" dirty="0"/>
          </a:p>
        </p:txBody>
      </p:sp>
      <p:pic>
        <p:nvPicPr>
          <p:cNvPr id="4" name="Image 0" descr="/home/claude/deck/fig_alp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" y="1463040"/>
            <a:ext cx="11201400" cy="427689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5877098"/>
            <a:ext cx="10881360" cy="660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line tracks the portfolio you would have held if you had never acted. Watching the two separate — sometimes in your favour, often not — is where the product explains itself without a manual.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Afterwards each decision is annotated with what it was worth, in the style of a chess engine review: year four, de-risked, minus eleven points.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156716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world is a fan of possibilities, not a 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scenario, drawn hundreds of times — because one decade is a sample of one</a:t>
            </a:r>
            <a:endParaRPr lang="en-US" sz="1400" dirty="0"/>
          </a:p>
        </p:txBody>
      </p:sp>
      <p:pic>
        <p:nvPicPr>
          <p:cNvPr id="4" name="Image 0" descr="/home/claude/deck/fig_f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315200" cy="266007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55280" y="1554480"/>
            <a:ext cx="3776472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decade you live is one draw from the world you chose.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across many draws separates a robust decision from a lucky one — which is the whole intellectual argument of the product, turned into a scoreboard.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also why nothing here is a forecast. A fan is a statement about what is plausible, not about what will happen.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56716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world is tested before anyone plays 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 are fixed before models are trained, so the tests can actually fail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694944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3703320"/>
                <a:gridCol w="16459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plain-English question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Statistical realism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it behave like real markets — fat tails, calm and stormy spells, faster falls than rises?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Pre-set tolerance bands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Tail 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it get the worst outcomes right, not just the average ones?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Backtest error bounds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Indistinguishability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a classifier tell a synthetic decade from a real one?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 to a coin flip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Usefulness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models trained on synthetic data still work on real data?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degradation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Memorisation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it inventing, or quietly replaying history?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 floor from real paths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Unseen regimes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Trained without the 1970s, can it still produce one?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own severe 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772400" y="1600200"/>
            <a:ext cx="39319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battery is published, and the numbers that count as a pass are written down before any model is trained.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also writes a record sufficient to replay it exactly, so any score or published result can be re-run by someone else.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engine is wrong, it will be wrong in public, in ways people can verify.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156716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is for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things that are hard to get any other way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56232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78308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Repetition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280160" y="2148840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Reps at decisions that otherwise arrive three or four times in a career.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0" y="1856232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040880" y="178308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Visible risk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040880" y="2148840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what the books say and what is actually being carried, watched rather than read about.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33756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326440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Liquidity as a felt constraint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280160" y="3630168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selling as something that happens to you, not a paragraph in a risk report.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0" y="333756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040880" y="326440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shared language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040880" y="3630168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decade, the same events, played by a whole team — the only difference is what each person decided.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818888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818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80160" y="474573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replayable record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280160" y="5111496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score resolves to a record anyone can re-run. Unusual for a simulator; essential for a serious one.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0" y="4818888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4818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040880" y="474573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test bed for AI allocators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7040880" y="5111496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world with a known ground truth that can be run ten thousand times is one way to find out whether an AI is any good at this.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0080" y="6263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investment advice. Simulated worlds, labelled as such; no real firm or person appears in one.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56716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— methodology at a glance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settled, what is a deliberate choice, and what is still open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2014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663440"/>
                <a:gridCol w="1417320"/>
                <a:gridCol w="28346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Anchor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Long-run backdrop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Estimated from a multi-country macro panel reaching back more than a century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Settled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Jordà–Schularick–Taylor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Regime spine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Human-defined states, documented and varied in a robustness grid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07D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choice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direct precedent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generator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Conditional deep generative model; architecture selection in progress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07D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Diffusion / flow-matching family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Tail accuracy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Worst-case error for a fixed set of benchmark strategies enters the training objective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Settled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 et al. (2025)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De-smoothing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Reported private returns corrected before use; smoothing re-applied for display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Settled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Geltner; Getmansky–Lo–Makarov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flows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Industry-standard pacing recursions, extended so rates respond to market conditions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Settled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Takahashi–Alexander; Robinson–Sensoy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Calibration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sources for the published engine; proprietary work kept separate and versioned apart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07D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 design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Reproducibility claim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Narrative layer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 models write the story and never touch the numbers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Constitutional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Structural, not prompt-enforced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56716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— references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Load-bearing sources. Full bibliography sits in the model documentation pack.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4864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Geltner, D. (1991). Smoothing in appraisal-based returns. Journal of Real Estate Finance and Economics.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Getmansky, M., Lo, A. &amp; Makarov, I. (2004). An econometric model of serial correlation and illiquidity in hedge fund returns. Journal of Financial Economics.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Cont, R. (2001). Empirical properties of asset returns: stylized facts and statistical issues. Quantitative Finance.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Cont, R., Cucuringu, M., Xu, R. &amp; Zhang, C. (2025). Tail-GAN: learning to simulate tail risk scenarios. Management Science.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Takahashi, D. &amp; Alexander, S. (2002). Illiquid alternative asset fund modeling. Journal of Portfolio Management.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Robinson, D. &amp; Sensoy, B. (2016). Cyclicality, performance measurement, and cash flow liquidity in private equity. Journal of Financial Economics.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309360" y="1691640"/>
            <a:ext cx="54864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Jordà, Ò., Schularick, M. &amp; Taylor, A. Macrohistory Database (long-run cross-country macro-financial panel).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Flaig, S. &amp; Junike, G. (2022, 2023). Scenario generation for market risk models using generative networks; and their validation.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Buehler, H., Horvath, B., Lyons, T., Perez Arribas, I. &amp; Wood, B. (2020). A data-driven market simulator for small data environments.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Krah, A.-S., Nikolić, Z. &amp; Korn, R. (2020). Machine learning in least-squares Monte Carlo proxy modeling.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Bezzina, F. &amp; Vella, V. (2024). Enhancing portfolio construction with synthetic data.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Denton, F. (1971). Adjustment of monthly or quarterly series to annual totals.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56716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2026-08-01T06:17:39Z</dcterms:created>
  <dcterms:modified xsi:type="dcterms:W3CDTF">2026-08-01T06:17:39Z</dcterms:modified>
</cp:coreProperties>
</file>